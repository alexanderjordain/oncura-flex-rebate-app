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3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6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686800" y="100584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ONCURA  ·  INTERNAL OPERATIONS GUIDE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6868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Running FLEX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9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 program works, and what this app produces each cycle — the payment, credit-memo, and invoice files you import into QBO.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4983480"/>
            <a:ext cx="566928" cy="566928"/>
          </a:xfrm>
          <a:prstGeom prst="ellipse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1114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1056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91056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0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F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46120" y="4983480"/>
            <a:ext cx="566928" cy="566928"/>
          </a:xfrm>
          <a:prstGeom prst="ellipse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51114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22776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Burn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922776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daily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74920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F89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577840" y="4983480"/>
            <a:ext cx="566928" cy="566928"/>
          </a:xfrm>
          <a:prstGeom prst="ellipse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856" y="511149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54496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quarterly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What FLEX is — and what the app handles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Clinics finance a telemedicine package and draw down a quarterly pool of scan reads.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087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4864" cy="86868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F567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one breath:  </a:t>
            </a:r>
            <a:r>
              <a:rPr lang="en-US" sz="16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clinic finances a bundled telemedicine package and gets a quarterly pool of scan reads. Real scans draw the pool down. </a:t>
            </a:r>
            <a:r>
              <a:rPr lang="en-US" sz="1600" b="1" dirty="0">
                <a:solidFill>
                  <a:srgbClr val="469B6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 quarter end, you settle the account and the app produces the closing documents.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" cy="278892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218688"/>
            <a:ext cx="676656" cy="676656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374136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19072" y="3310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MONTHLY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The pool gets built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14400" y="44622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finance-company payment and the clinic's monthly credit both post to the account.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5184648"/>
            <a:ext cx="2971800" cy="365760"/>
          </a:xfrm>
          <a:prstGeom prst="rect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app builds both import files.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34256" y="292608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34256" y="2926080"/>
            <a:ext cx="54864" cy="2788920"/>
          </a:xfrm>
          <a:prstGeom prst="rect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08576" y="3218688"/>
            <a:ext cx="676656" cy="676656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374136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13248" y="3310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DAILY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08576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Scans burn it down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4608576" y="44622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scan the clinic orders becomes an invoice. They just accumulate.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608576" y="5184648"/>
            <a:ext cx="2971800" cy="365760"/>
          </a:xfrm>
          <a:prstGeom prst="rect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608576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Nothing to import here.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028432" y="2926080"/>
            <a:ext cx="35204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028432" y="2926080"/>
            <a:ext cx="54864" cy="27889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302752" y="3218688"/>
            <a:ext cx="676656" cy="676656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3374136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107424" y="33101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69B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QUARTERLY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302752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Reconcile &amp; close</a:t>
            </a:r>
            <a:endParaRPr lang="en-US" sz="1900" dirty="0"/>
          </a:p>
        </p:txBody>
      </p:sp>
      <p:sp>
        <p:nvSpPr>
          <p:cNvPr id="33" name="Text 28"/>
          <p:cNvSpPr/>
          <p:nvPr/>
        </p:nvSpPr>
        <p:spPr>
          <a:xfrm>
            <a:off x="8302752" y="446227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Apply the quarter's payments &amp; credits against the scans, then read the balance.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302752" y="5184648"/>
            <a:ext cx="2971800" cy="365760"/>
          </a:xfrm>
          <a:prstGeom prst="rect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8302752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6B4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app produces the closing documents.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MONTH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Two entries make the pool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clinic's payment through the finance company, plus an Oncura credit.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" cy="14173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231136"/>
            <a:ext cx="475488" cy="475488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31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7980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ONCURA CREDIT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9809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69B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$900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2926080" y="201168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383280" y="201168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83280" y="2011680"/>
            <a:ext cx="54864" cy="141732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11880" y="2231136"/>
            <a:ext cx="475488" cy="475488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3317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798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FINANCE-CO PAYMENT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11880" y="29809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$1,000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5852160" y="2011680"/>
            <a:ext cx="457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6309360" y="2011680"/>
            <a:ext cx="2103120" cy="1417320"/>
          </a:xfrm>
          <a:prstGeom prst="rect">
            <a:avLst/>
          </a:prstGeom>
          <a:solidFill>
            <a:srgbClr val="3A6A9A"/>
          </a:solidFill>
          <a:ln/>
          <a:effectLst>
            <a:outerShdw blurRad="63500" dist="25400" dir="8100000" algn="bl" rotWithShape="0">
              <a:srgbClr val="2A374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309360" y="2233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DDE8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MONTHLY POOL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309360" y="246543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$1,900</a:t>
            </a:r>
            <a:endParaRPr lang="en-US" sz="2900" dirty="0"/>
          </a:p>
        </p:txBody>
      </p:sp>
      <p:sp>
        <p:nvSpPr>
          <p:cNvPr id="23" name="Text 19"/>
          <p:cNvSpPr/>
          <p:nvPr/>
        </p:nvSpPr>
        <p:spPr>
          <a:xfrm>
            <a:off x="8458200" y="2011680"/>
            <a:ext cx="548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052560" y="2011680"/>
            <a:ext cx="2286000" cy="1417320"/>
          </a:xfrm>
          <a:prstGeom prst="rect">
            <a:avLst/>
          </a:prstGeom>
          <a:solidFill>
            <a:srgbClr val="2F567E"/>
          </a:solidFill>
          <a:ln/>
          <a:effectLst>
            <a:outerShdw blurRad="63500" dist="25400" dir="8100000" algn="bl" rotWithShape="0">
              <a:srgbClr val="2A374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052560" y="2212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QUARTERLY POOL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05256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$5,700</a:t>
            </a:r>
            <a:endParaRPr lang="en-US" sz="2900" dirty="0"/>
          </a:p>
        </p:txBody>
      </p:sp>
      <p:sp>
        <p:nvSpPr>
          <p:cNvPr id="27" name="Text 23"/>
          <p:cNvSpPr/>
          <p:nvPr/>
        </p:nvSpPr>
        <p:spPr>
          <a:xfrm>
            <a:off x="9052560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quarter's scan reads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0080" y="370332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40080" y="3703320"/>
            <a:ext cx="54864" cy="1965960"/>
          </a:xfrm>
          <a:prstGeom prst="rect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TWO ENTRIES?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914400" y="4306824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F567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monthly pool is a combination</a:t>
            </a:r>
            <a:r>
              <a:rPr lang="en-US" sz="14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of the clinic's payments — made through the finance companies — and Oncura's credits. Together they make up what the clinic can spend each month.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6199632" y="370332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199632" y="3703320"/>
            <a:ext cx="54864" cy="196596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473952" y="3959352"/>
            <a:ext cx="512064" cy="512064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69080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114032" y="3995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APP DOES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473952" y="45720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Generates both import files each month. </a:t>
            </a:r>
            <a:r>
              <a:rPr lang="en-US" sz="14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payment and credit memo post unapplied and wait for the quarter-end close — no manual matching now.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QUARTER 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How a quarter closes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Only the clinics whose quarter ends this month — the app compares usage to the pool.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" cy="146304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2167128"/>
            <a:ext cx="603504" cy="603504"/>
          </a:xfrm>
          <a:prstGeom prst="ellipse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00784" y="21122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Payments &amp; credits wait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00784" y="2551176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Through the quarter they sit unapplied in QBO while the scan invoices pile 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874520"/>
            <a:ext cx="5349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54864" cy="146304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2167128"/>
            <a:ext cx="603504" cy="603504"/>
          </a:xfrm>
          <a:prstGeom prst="ellipse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60336" y="21122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The app totals usage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60336" y="2551176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 close, it adds up the clinic's scan activity for the whole quarter.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538728"/>
            <a:ext cx="5349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54864" cy="146304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2688" y="3831336"/>
            <a:ext cx="603504" cy="603504"/>
          </a:xfrm>
          <a:prstGeom prst="ellipse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3831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00784" y="37764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Measured against the pool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00784" y="4215384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usage is compared to the clinic's pool — the quarter's payments + credits.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3538728"/>
            <a:ext cx="5349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99632" y="3538728"/>
            <a:ext cx="54864" cy="146304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3831336"/>
            <a:ext cx="603504" cy="603504"/>
          </a:xfrm>
          <a:prstGeom prst="ellipse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3831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260336" y="37764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The balance decides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0336" y="4215384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Used it all, went over, or left some — the app produces the matching document.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285232"/>
            <a:ext cx="10908792" cy="603504"/>
          </a:xfrm>
          <a:prstGeom prst="roundRect">
            <a:avLst>
              <a:gd name="adj" fmla="val 9091"/>
            </a:avLst>
          </a:prstGeom>
          <a:solidFill>
            <a:srgbClr val="2F56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6112" y="5361492"/>
            <a:ext cx="457200" cy="457200"/>
          </a:xfrm>
          <a:prstGeom prst="ellipse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470702"/>
            <a:ext cx="256032" cy="2560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81328" y="528523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0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Inside QBO:  </a:t>
            </a:r>
            <a:r>
              <a:rPr lang="en-US" sz="12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quarter's payments and credits are applied against the scan invoices so the books match the result.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Three ways a quarter ends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 the leftover balance — the app produces the matching document.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087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" cy="1298448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780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 = $0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0" y="24871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E6B45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Clean quarter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754880" y="2212848"/>
            <a:ext cx="0" cy="896112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69B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PRODUCES  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37760" y="2450592"/>
            <a:ext cx="6245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Nothing to produce — the account is settled.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493008"/>
            <a:ext cx="109087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3493008"/>
            <a:ext cx="54864" cy="1298448"/>
          </a:xfrm>
          <a:prstGeom prst="rect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32688" y="3813048"/>
            <a:ext cx="658368" cy="658368"/>
          </a:xfrm>
          <a:prstGeom prst="ellipse">
            <a:avLst/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9421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2880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 is positive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828800" y="3968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9A6B16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Overage — bill it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4754880" y="3694176"/>
            <a:ext cx="0" cy="896112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3776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PRODUCES  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37760" y="3931920"/>
            <a:ext cx="6245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app produces an overage invoice. If the finance partner handles it (One Place, by ~the 5th) it routes there; otherwise it bills the clinic directly, referencing “Telemedicine Overages” and the quarter.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0080" y="4974336"/>
            <a:ext cx="109087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40080" y="4974336"/>
            <a:ext cx="54864" cy="1298448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932688" y="5294376"/>
            <a:ext cx="658368" cy="658368"/>
          </a:xfrm>
          <a:prstGeom prst="ellipse">
            <a:avLst/>
          </a:prstGeom>
          <a:solidFill>
            <a:srgbClr val="E3EA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44068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82880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Balance is negative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828800" y="5449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F567E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Unused — recapture it</a:t>
            </a:r>
            <a:endParaRPr lang="en-US" sz="2100" dirty="0"/>
          </a:p>
        </p:txBody>
      </p:sp>
      <p:sp>
        <p:nvSpPr>
          <p:cNvPr id="30" name="Shape 25"/>
          <p:cNvSpPr/>
          <p:nvPr/>
        </p:nvSpPr>
        <p:spPr>
          <a:xfrm>
            <a:off x="4754880" y="5175504"/>
            <a:ext cx="0" cy="896112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937760" y="5157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PRODUCES  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937760" y="5413248"/>
            <a:ext cx="6245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app produces an internal Unused-Flex-Credits invoice that books the leftover as revenue. It's an accounting entry — not sent to the clinic.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Two things that change the routine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Most clinics are simple — but keep these two in mind.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4864" cy="374904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713232" cy="713232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0487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286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WRINKLE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83080" y="2542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Multi-clinic groups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2552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0815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Some contracts cover several locations and reconcile as one pool.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914400" y="3995928"/>
            <a:ext cx="457200" cy="457200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0965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2277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Funds move between locations to balance the group (e.g. ~$978 from Condado to Gardenville).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F0F2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93776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76402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group's consolidated row holds the pool — the other locations roll up into it.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45352" y="196596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245352" y="1965960"/>
            <a:ext cx="54864" cy="3749040"/>
          </a:xfrm>
          <a:prstGeom prst="rect">
            <a:avLst/>
          </a:prstGeom>
          <a:solidFill>
            <a:srgbClr val="E3A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519672" y="2240280"/>
            <a:ext cx="713232" cy="713232"/>
          </a:xfrm>
          <a:prstGeom prst="ellipse">
            <a:avLst/>
          </a:prstGeom>
          <a:solidFill>
            <a:srgbClr val="FBF1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240487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88352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WRINKLE 2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388352" y="2542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Staggered quarters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6519672" y="310896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Clinics don't all close in the same month. A quarter is three months; the cycles start one month apart: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19672" y="3767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QUARTER SHOWN · REPEATS EVERY 3 MONTHS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6519672" y="402336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6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Cycle 1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726680" y="4050792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726680" y="4050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567928" y="4050792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8567928" y="4050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Feb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9409176" y="4050792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9409176" y="4050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0250424" y="40233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…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6519672" y="45079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6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Cycle 2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7726680" y="4535424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7726680" y="45354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Feb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567928" y="4535424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8567928" y="45354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9409176" y="4535424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9409176" y="45354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0250424" y="45079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…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6519672" y="49926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56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Cycle 3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7726680" y="5020056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7726680" y="50200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8567928" y="5020056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8567928" y="50200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9409176" y="5020056"/>
            <a:ext cx="777240" cy="365760"/>
          </a:xfrm>
          <a:prstGeom prst="rect">
            <a:avLst/>
          </a:prstGeom>
          <a:solidFill>
            <a:srgbClr val="F0F2F4"/>
          </a:solidFill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9409176" y="50200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7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May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10250424" y="49926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…</a:t>
            </a:r>
            <a:endParaRPr lang="en-US" sz="1500" dirty="0"/>
          </a:p>
        </p:txBody>
      </p:sp>
      <p:sp>
        <p:nvSpPr>
          <p:cNvPr id="53" name="Text 46"/>
          <p:cNvSpPr/>
          <p:nvPr/>
        </p:nvSpPr>
        <p:spPr>
          <a:xfrm>
            <a:off x="6519672" y="542601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9A6B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Only the clinics whose quarter ends this month are processed.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96012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9536" y="5029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THIS HANDY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6A9A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Quick reference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" y="13350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terms you'll see, and the files the app produces for QBO.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4864" cy="3749040"/>
          </a:xfrm>
          <a:prstGeom prst="rect">
            <a:avLst/>
          </a:prstGeom>
          <a:solidFill>
            <a:srgbClr val="3A6A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PLAIN-ENGLISH GLOSSARY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quarter's scan reads a clinic can use — monthly credit × 3.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Monthly credit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clinic's monthly entitlement, booked as a credit memo.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 payment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889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monthly pass-through cash that funds the credit; posts unapplied.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Recapture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889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Internal invoice booking unused pool as revenue. Not sent to the clinic.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572000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real bill when scans exceed the pool.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6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Multi-clinic group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8892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74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Locations under one contract that reconcile as a single pool.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53912" y="196596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50800" dist="19050" dir="8100000" algn="bl" rotWithShape="0">
              <a:srgbClr val="2A374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53912" y="1965960"/>
            <a:ext cx="54864" cy="3749040"/>
          </a:xfrm>
          <a:prstGeom prst="rect">
            <a:avLst/>
          </a:prstGeom>
          <a:solidFill>
            <a:srgbClr val="469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2823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3A0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THE APP PRODUCES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183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QBO via SaaSAnt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28232" y="2651760"/>
            <a:ext cx="475488" cy="475488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75234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022592" y="25968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Payment import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022592" y="2907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 finance-company payments (unapplied)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28232" y="3328416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428232" y="3401568"/>
            <a:ext cx="475488" cy="475488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502152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022592" y="3346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Credit-memo import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7022592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 Flex credits for each clinic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428232" y="4078224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428232" y="4151376"/>
            <a:ext cx="475488" cy="475488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51960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7022592" y="40965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Overage invoice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7022592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Quarter-end bill when usage beats the pool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428232" y="4828032"/>
            <a:ext cx="4846320" cy="0"/>
          </a:xfrm>
          <a:prstGeom prst="line">
            <a:avLst/>
          </a:prstGeom>
          <a:noFill/>
          <a:ln w="9525">
            <a:solidFill>
              <a:srgbClr val="E2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428232" y="4901184"/>
            <a:ext cx="475488" cy="475488"/>
          </a:xfrm>
          <a:prstGeom prst="ellipse">
            <a:avLst/>
          </a:prstGeom>
          <a:solidFill>
            <a:srgbClr val="E2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5001768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022592" y="4846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3742"/>
                </a:solidFill>
                <a:latin typeface="Fraunces 72pt" pitchFamily="34" charset="0"/>
                <a:ea typeface="Fraunces 72pt" pitchFamily="34" charset="-122"/>
                <a:cs typeface="Fraunces 72pt" pitchFamily="34" charset="-120"/>
              </a:rPr>
              <a:t>Recapture invoice</a:t>
            </a:r>
            <a:endParaRPr lang="en-US" sz="1500" dirty="0"/>
          </a:p>
        </p:txBody>
      </p:sp>
      <p:sp>
        <p:nvSpPr>
          <p:cNvPr id="48" name="Text 42"/>
          <p:cNvSpPr/>
          <p:nvPr/>
        </p:nvSpPr>
        <p:spPr>
          <a:xfrm>
            <a:off x="7022592" y="5157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Quarter-end internal booking of unused pool</a:t>
            </a:r>
            <a:endParaRPr lang="en-US" sz="1150" dirty="0"/>
          </a:p>
        </p:txBody>
      </p:sp>
      <p:sp>
        <p:nvSpPr>
          <p:cNvPr id="49" name="Text 4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FLEX · OPERATING GUIDE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10607040" y="64465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868</Words>
  <Application>Microsoft Office PowerPoint</Application>
  <PresentationFormat>Widescreen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Fraunces 72pt</vt:lpstr>
      <vt:lpstr>Hanken Grotesk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— Operating Guide</dc:title>
  <dc:subject>PptxGenJS Presentation</dc:subject>
  <dc:creator>Oncura Operations</dc:creator>
  <cp:lastModifiedBy>Alexander Jordain</cp:lastModifiedBy>
  <cp:revision>2</cp:revision>
  <dcterms:created xsi:type="dcterms:W3CDTF">2026-05-29T06:20:34Z</dcterms:created>
  <dcterms:modified xsi:type="dcterms:W3CDTF">2026-06-22T14:33:22Z</dcterms:modified>
</cp:coreProperties>
</file>