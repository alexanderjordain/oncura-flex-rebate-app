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56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69B68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tretch>
            <a:fillRect/>
          </a:stretch>
        </p:blipFill>
        <p:spPr>
          <a:xfrm>
            <a:off x="8686800" y="1005840"/>
            <a:ext cx="3017520" cy="3017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1488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500" kern="0" dirty="0">
                <a:solidFill>
                  <a:srgbClr val="E3A0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ONCURA  ·  INTERNAL OPERATIONS GUIDE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868680" y="24688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Fraunces 72pt" pitchFamily="34" charset="0"/>
                <a:ea typeface="Fraunces 72pt" pitchFamily="34" charset="-122"/>
                <a:cs typeface="Fraunces 72pt" pitchFamily="34" charset="-120"/>
              </a:rPr>
              <a:t>Running FLEX</a:t>
            </a:r>
            <a:endParaRPr lang="en-US" sz="6400" dirty="0"/>
          </a:p>
        </p:txBody>
      </p:sp>
      <p:sp>
        <p:nvSpPr>
          <p:cNvPr id="6" name="Text 3"/>
          <p:cNvSpPr/>
          <p:nvPr/>
        </p:nvSpPr>
        <p:spPr>
          <a:xfrm>
            <a:off x="914400" y="370332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FD9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the program works, and what this app produces each cycle — the payment, credit-memo, and invoice files you import into QBO.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4983480"/>
            <a:ext cx="566928" cy="566928"/>
          </a:xfrm>
          <a:prstGeom prst="ellipse">
            <a:avLst/>
          </a:prstGeom>
          <a:solidFill>
            <a:srgbClr val="E3A033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5111496"/>
            <a:ext cx="310896" cy="3108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91056" y="4937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Build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591056" y="52303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monthly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2743200" y="49377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F89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3246120" y="4983480"/>
            <a:ext cx="566928" cy="566928"/>
          </a:xfrm>
          <a:prstGeom prst="ellipse">
            <a:avLst/>
          </a:prstGeom>
          <a:solidFill>
            <a:srgbClr val="E3A033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4136" y="5111496"/>
            <a:ext cx="310896" cy="31089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922776" y="4937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Burn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3922776" y="52303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daily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5074920" y="49377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F89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5577840" y="4983480"/>
            <a:ext cx="566928" cy="566928"/>
          </a:xfrm>
          <a:prstGeom prst="ellipse">
            <a:avLst/>
          </a:prstGeom>
          <a:solidFill>
            <a:srgbClr val="E3A03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5856" y="5111496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254496" y="4937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Reconcile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6254496" y="52303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quarterly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2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4864" cy="960120"/>
          </a:xfrm>
          <a:prstGeom prst="rect">
            <a:avLst/>
          </a:prstGeom>
          <a:solidFill>
            <a:srgbClr val="469B68"/>
          </a:solidFill>
          <a:ln/>
        </p:spPr>
      </p:sp>
      <p:sp>
        <p:nvSpPr>
          <p:cNvPr id="3" name="Text 1"/>
          <p:cNvSpPr/>
          <p:nvPr/>
        </p:nvSpPr>
        <p:spPr>
          <a:xfrm>
            <a:off x="859536" y="502920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3A0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 HERE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41248" y="74980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6A9A"/>
                </a:solidFill>
                <a:latin typeface="Fraunces 72pt" pitchFamily="34" charset="0"/>
                <a:ea typeface="Fraunces 72pt" pitchFamily="34" charset="-122"/>
                <a:cs typeface="Fraunces 72pt" pitchFamily="34" charset="-120"/>
              </a:rPr>
              <a:t>What FLEX is — and what the app handles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59536" y="133502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78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Clinics finance a telemedicine package and draw down a quarterly pool of scan reads.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1090879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6EA"/>
            </a:solidFill>
            <a:prstDash val="solid"/>
          </a:ln>
          <a:effectLst>
            <a:outerShdw sx="100000" sy="100000" kx="0" ky="0" algn="bl" rotWithShape="0" blurRad="50800" dist="19050" dir="8100000">
              <a:srgbClr val="2A3742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828800"/>
            <a:ext cx="54864" cy="868680"/>
          </a:xfrm>
          <a:prstGeom prst="rect">
            <a:avLst/>
          </a:prstGeom>
          <a:solidFill>
            <a:srgbClr val="3A6A9A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18288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F567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one breath:  </a:t>
            </a:r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2A374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clinic finances a bundled telemedicine package and gets a quarterly pool of scan reads. Real scans draw the pool down. </a:t>
            </a:r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469B68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At quarter end, you settle the account and the app produces the closing documents.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2926080"/>
            <a:ext cx="352044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6EA"/>
            </a:solidFill>
            <a:prstDash val="solid"/>
          </a:ln>
          <a:effectLst>
            <a:outerShdw sx="100000" sy="100000" kx="0" ky="0" algn="bl" rotWithShape="0" blurRad="50800" dist="19050" dir="8100000">
              <a:srgbClr val="2A3742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926080"/>
            <a:ext cx="54864" cy="2788920"/>
          </a:xfrm>
          <a:prstGeom prst="rect">
            <a:avLst/>
          </a:prstGeom>
          <a:solidFill>
            <a:srgbClr val="3A6A9A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3218688"/>
            <a:ext cx="676656" cy="676656"/>
          </a:xfrm>
          <a:prstGeom prst="ellipse">
            <a:avLst/>
          </a:prstGeom>
          <a:solidFill>
            <a:srgbClr val="F0F2F4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3374136"/>
            <a:ext cx="365760" cy="36576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719072" y="33101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A6A9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MONTHLY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14400" y="402336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3742"/>
                </a:solidFill>
                <a:latin typeface="Fraunces 72pt" pitchFamily="34" charset="0"/>
                <a:ea typeface="Fraunces 72pt" pitchFamily="34" charset="-122"/>
                <a:cs typeface="Fraunces 72pt" pitchFamily="34" charset="-120"/>
              </a:rPr>
              <a:t>The pool gets built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914400" y="446227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A374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finance-company payment and the clinic's monthly credit both post to the account.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914400" y="5184648"/>
            <a:ext cx="2971800" cy="365760"/>
          </a:xfrm>
          <a:prstGeom prst="rect">
            <a:avLst/>
          </a:prstGeom>
          <a:solidFill>
            <a:srgbClr val="F0F2F4"/>
          </a:solidFill>
          <a:ln/>
        </p:spPr>
      </p:sp>
      <p:sp>
        <p:nvSpPr>
          <p:cNvPr id="17" name="Text 14"/>
          <p:cNvSpPr/>
          <p:nvPr/>
        </p:nvSpPr>
        <p:spPr>
          <a:xfrm>
            <a:off x="914400" y="518464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app builds both import files.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334256" y="2926080"/>
            <a:ext cx="352044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6EA"/>
            </a:solidFill>
            <a:prstDash val="solid"/>
          </a:ln>
          <a:effectLst>
            <a:outerShdw sx="100000" sy="100000" kx="0" ky="0" algn="bl" rotWithShape="0" blurRad="50800" dist="19050" dir="8100000">
              <a:srgbClr val="2A3742">
                <a:alpha val="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334256" y="2926080"/>
            <a:ext cx="54864" cy="2788920"/>
          </a:xfrm>
          <a:prstGeom prst="rect">
            <a:avLst/>
          </a:prstGeom>
          <a:solidFill>
            <a:srgbClr val="E3A033"/>
          </a:solidFill>
          <a:ln/>
        </p:spPr>
      </p:sp>
      <p:sp>
        <p:nvSpPr>
          <p:cNvPr id="20" name="Shape 17"/>
          <p:cNvSpPr/>
          <p:nvPr/>
        </p:nvSpPr>
        <p:spPr>
          <a:xfrm>
            <a:off x="4608576" y="3218688"/>
            <a:ext cx="676656" cy="676656"/>
          </a:xfrm>
          <a:prstGeom prst="ellipse">
            <a:avLst/>
          </a:prstGeom>
          <a:solidFill>
            <a:srgbClr val="F0F2F4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4" y="3374136"/>
            <a:ext cx="365760" cy="36576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413248" y="33101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3A0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DAILY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608576" y="402336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3742"/>
                </a:solidFill>
                <a:latin typeface="Fraunces 72pt" pitchFamily="34" charset="0"/>
                <a:ea typeface="Fraunces 72pt" pitchFamily="34" charset="-122"/>
                <a:cs typeface="Fraunces 72pt" pitchFamily="34" charset="-120"/>
              </a:rPr>
              <a:t>Scans burn it down</a:t>
            </a:r>
            <a:endParaRPr lang="en-US" sz="1900" dirty="0"/>
          </a:p>
        </p:txBody>
      </p:sp>
      <p:sp>
        <p:nvSpPr>
          <p:cNvPr id="24" name="Text 20"/>
          <p:cNvSpPr/>
          <p:nvPr/>
        </p:nvSpPr>
        <p:spPr>
          <a:xfrm>
            <a:off x="4608576" y="446227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A374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Each scan the clinic orders becomes an invoice. They just accumulate.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4608576" y="5184648"/>
            <a:ext cx="2971800" cy="365760"/>
          </a:xfrm>
          <a:prstGeom prst="rect">
            <a:avLst/>
          </a:prstGeom>
          <a:solidFill>
            <a:srgbClr val="F0F2F4"/>
          </a:solidFill>
          <a:ln/>
        </p:spPr>
      </p:sp>
      <p:sp>
        <p:nvSpPr>
          <p:cNvPr id="26" name="Text 22"/>
          <p:cNvSpPr/>
          <p:nvPr/>
        </p:nvSpPr>
        <p:spPr>
          <a:xfrm>
            <a:off x="4608576" y="518464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Nothing to import here.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8028432" y="2926080"/>
            <a:ext cx="352044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6EA"/>
            </a:solidFill>
            <a:prstDash val="solid"/>
          </a:ln>
          <a:effectLst>
            <a:outerShdw sx="100000" sy="100000" kx="0" ky="0" algn="bl" rotWithShape="0" blurRad="50800" dist="19050" dir="8100000">
              <a:srgbClr val="2A3742">
                <a:alpha val="8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8028432" y="2926080"/>
            <a:ext cx="54864" cy="2788920"/>
          </a:xfrm>
          <a:prstGeom prst="rect">
            <a:avLst/>
          </a:prstGeom>
          <a:solidFill>
            <a:srgbClr val="469B68"/>
          </a:solidFill>
          <a:ln/>
        </p:spPr>
      </p:sp>
      <p:sp>
        <p:nvSpPr>
          <p:cNvPr id="29" name="Shape 25"/>
          <p:cNvSpPr/>
          <p:nvPr/>
        </p:nvSpPr>
        <p:spPr>
          <a:xfrm>
            <a:off x="8302752" y="3218688"/>
            <a:ext cx="676656" cy="676656"/>
          </a:xfrm>
          <a:prstGeom prst="ellipse">
            <a:avLst/>
          </a:prstGeom>
          <a:solidFill>
            <a:srgbClr val="F0F2F4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3374136"/>
            <a:ext cx="365760" cy="36576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9107424" y="33101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69B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QUARTERLY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8302752" y="402336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3742"/>
                </a:solidFill>
                <a:latin typeface="Fraunces 72pt" pitchFamily="34" charset="0"/>
                <a:ea typeface="Fraunces 72pt" pitchFamily="34" charset="-122"/>
                <a:cs typeface="Fraunces 72pt" pitchFamily="34" charset="-120"/>
              </a:rPr>
              <a:t>Reconcile &amp; close</a:t>
            </a:r>
            <a:endParaRPr lang="en-US" sz="1900" dirty="0"/>
          </a:p>
        </p:txBody>
      </p:sp>
      <p:sp>
        <p:nvSpPr>
          <p:cNvPr id="33" name="Text 28"/>
          <p:cNvSpPr/>
          <p:nvPr/>
        </p:nvSpPr>
        <p:spPr>
          <a:xfrm>
            <a:off x="8302752" y="446227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A374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Apply the quarter's payments &amp; credits against the scans, then read the balance.</a:t>
            </a:r>
            <a:endParaRPr lang="en-US" sz="1300" dirty="0"/>
          </a:p>
        </p:txBody>
      </p:sp>
      <p:sp>
        <p:nvSpPr>
          <p:cNvPr id="34" name="Shape 29"/>
          <p:cNvSpPr/>
          <p:nvPr/>
        </p:nvSpPr>
        <p:spPr>
          <a:xfrm>
            <a:off x="8302752" y="5184648"/>
            <a:ext cx="2971800" cy="365760"/>
          </a:xfrm>
          <a:prstGeom prst="rect">
            <a:avLst/>
          </a:prstGeom>
          <a:solidFill>
            <a:srgbClr val="E2F0E8"/>
          </a:solidFill>
          <a:ln/>
        </p:spPr>
      </p:sp>
      <p:sp>
        <p:nvSpPr>
          <p:cNvPr id="35" name="Text 30"/>
          <p:cNvSpPr/>
          <p:nvPr/>
        </p:nvSpPr>
        <p:spPr>
          <a:xfrm>
            <a:off x="8302752" y="518464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E6B4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app produces the closing documents.</a:t>
            </a:r>
            <a:endParaRPr lang="en-US" sz="1100" dirty="0"/>
          </a:p>
        </p:txBody>
      </p:sp>
      <p:sp>
        <p:nvSpPr>
          <p:cNvPr id="36" name="Text 31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7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FLEX · OPERATING GUIDE</a:t>
            </a:r>
            <a:endParaRPr lang="en-US" sz="800" dirty="0"/>
          </a:p>
        </p:txBody>
      </p:sp>
      <p:sp>
        <p:nvSpPr>
          <p:cNvPr id="37" name="Text 32"/>
          <p:cNvSpPr/>
          <p:nvPr/>
        </p:nvSpPr>
        <p:spPr>
          <a:xfrm>
            <a:off x="10607040" y="6446520"/>
            <a:ext cx="1033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7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 / 7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2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4864" cy="960120"/>
          </a:xfrm>
          <a:prstGeom prst="rect">
            <a:avLst/>
          </a:prstGeom>
          <a:solidFill>
            <a:srgbClr val="469B68"/>
          </a:solidFill>
          <a:ln/>
        </p:spPr>
      </p:sp>
      <p:sp>
        <p:nvSpPr>
          <p:cNvPr id="3" name="Text 1"/>
          <p:cNvSpPr/>
          <p:nvPr/>
        </p:nvSpPr>
        <p:spPr>
          <a:xfrm>
            <a:off x="859536" y="502920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3A0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 MONTH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41248" y="74980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6A9A"/>
                </a:solidFill>
                <a:latin typeface="Fraunces 72pt" pitchFamily="34" charset="0"/>
                <a:ea typeface="Fraunces 72pt" pitchFamily="34" charset="-122"/>
                <a:cs typeface="Fraunces 72pt" pitchFamily="34" charset="-120"/>
              </a:rPr>
              <a:t>Two entries make the pool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59536" y="133502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78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clinic's payment through the finance company, plus an Oncura credit.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22860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6EA"/>
            </a:solidFill>
            <a:prstDash val="solid"/>
          </a:ln>
          <a:effectLst>
            <a:outerShdw sx="100000" sy="100000" kx="0" ky="0" algn="bl" rotWithShape="0" blurRad="50800" dist="19050" dir="8100000">
              <a:srgbClr val="2A3742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011680"/>
            <a:ext cx="54864" cy="1417320"/>
          </a:xfrm>
          <a:prstGeom prst="rect">
            <a:avLst/>
          </a:prstGeom>
          <a:solidFill>
            <a:srgbClr val="469B68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2231136"/>
            <a:ext cx="475488" cy="475488"/>
          </a:xfrm>
          <a:prstGeom prst="ellipse">
            <a:avLst/>
          </a:prstGeom>
          <a:solidFill>
            <a:srgbClr val="F0F2F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33172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68680" y="279806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77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ONCURA CREDIT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68680" y="298094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69B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$900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2926080" y="2011680"/>
            <a:ext cx="457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B77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</a:t>
            </a:r>
            <a:endParaRPr lang="en-US" sz="2600" dirty="0"/>
          </a:p>
        </p:txBody>
      </p:sp>
      <p:sp>
        <p:nvSpPr>
          <p:cNvPr id="13" name="Shape 10"/>
          <p:cNvSpPr/>
          <p:nvPr/>
        </p:nvSpPr>
        <p:spPr>
          <a:xfrm>
            <a:off x="3383280" y="2011680"/>
            <a:ext cx="24688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6EA"/>
            </a:solidFill>
            <a:prstDash val="solid"/>
          </a:ln>
          <a:effectLst>
            <a:outerShdw sx="100000" sy="100000" kx="0" ky="0" algn="bl" rotWithShape="0" blurRad="50800" dist="19050" dir="8100000">
              <a:srgbClr val="2A3742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383280" y="2011680"/>
            <a:ext cx="54864" cy="1417320"/>
          </a:xfrm>
          <a:prstGeom prst="rect">
            <a:avLst/>
          </a:prstGeom>
          <a:solidFill>
            <a:srgbClr val="3A6A9A"/>
          </a:solidFill>
          <a:ln/>
        </p:spPr>
      </p:sp>
      <p:sp>
        <p:nvSpPr>
          <p:cNvPr id="15" name="Shape 12"/>
          <p:cNvSpPr/>
          <p:nvPr/>
        </p:nvSpPr>
        <p:spPr>
          <a:xfrm>
            <a:off x="3611880" y="2231136"/>
            <a:ext cx="475488" cy="475488"/>
          </a:xfrm>
          <a:prstGeom prst="ellipse">
            <a:avLst/>
          </a:prstGeom>
          <a:solidFill>
            <a:srgbClr val="F0F2F4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464" y="233172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611880" y="279806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77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FINANCE-CO PAYMENT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3611880" y="298094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A6A9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$1,000</a:t>
            </a:r>
            <a:endParaRPr lang="en-US" sz="2500" dirty="0"/>
          </a:p>
        </p:txBody>
      </p:sp>
      <p:sp>
        <p:nvSpPr>
          <p:cNvPr id="19" name="Text 15"/>
          <p:cNvSpPr/>
          <p:nvPr/>
        </p:nvSpPr>
        <p:spPr>
          <a:xfrm>
            <a:off x="5852160" y="2011680"/>
            <a:ext cx="457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B77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=</a:t>
            </a:r>
            <a:endParaRPr lang="en-US" sz="2600" dirty="0"/>
          </a:p>
        </p:txBody>
      </p:sp>
      <p:sp>
        <p:nvSpPr>
          <p:cNvPr id="20" name="Shape 16"/>
          <p:cNvSpPr/>
          <p:nvPr/>
        </p:nvSpPr>
        <p:spPr>
          <a:xfrm>
            <a:off x="6309360" y="2011680"/>
            <a:ext cx="2103120" cy="1417320"/>
          </a:xfrm>
          <a:prstGeom prst="rect">
            <a:avLst/>
          </a:prstGeom>
          <a:solidFill>
            <a:srgbClr val="3A6A9A"/>
          </a:solidFill>
          <a:ln/>
          <a:effectLst>
            <a:outerShdw sx="100000" sy="100000" kx="0" ky="0" algn="bl" rotWithShape="0" blurRad="63500" dist="25400" dir="8100000">
              <a:srgbClr val="2A3742">
                <a:alpha val="10000"/>
              </a:srgbClr>
            </a:outerShdw>
          </a:effectLst>
        </p:spPr>
      </p:sp>
      <p:sp>
        <p:nvSpPr>
          <p:cNvPr id="21" name="Text 17"/>
          <p:cNvSpPr/>
          <p:nvPr/>
        </p:nvSpPr>
        <p:spPr>
          <a:xfrm>
            <a:off x="6309360" y="226771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DDE8C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MONTHLY POOL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6309360" y="25603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$1,900</a:t>
            </a:r>
            <a:endParaRPr lang="en-US" sz="2900" dirty="0"/>
          </a:p>
        </p:txBody>
      </p:sp>
      <p:sp>
        <p:nvSpPr>
          <p:cNvPr id="23" name="Text 19"/>
          <p:cNvSpPr/>
          <p:nvPr/>
        </p:nvSpPr>
        <p:spPr>
          <a:xfrm>
            <a:off x="8458200" y="2011680"/>
            <a:ext cx="548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7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× 3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9052560" y="2011680"/>
            <a:ext cx="2286000" cy="1417320"/>
          </a:xfrm>
          <a:prstGeom prst="rect">
            <a:avLst/>
          </a:prstGeom>
          <a:solidFill>
            <a:srgbClr val="2F567E"/>
          </a:solidFill>
          <a:ln/>
          <a:effectLst>
            <a:outerShdw sx="100000" sy="100000" kx="0" ky="0" algn="bl" rotWithShape="0" blurRad="63500" dist="25400" dir="8100000">
              <a:srgbClr val="2A3742">
                <a:alpha val="10000"/>
              </a:srgbClr>
            </a:outerShdw>
          </a:effectLst>
        </p:spPr>
      </p:sp>
      <p:sp>
        <p:nvSpPr>
          <p:cNvPr id="25" name="Text 21"/>
          <p:cNvSpPr/>
          <p:nvPr/>
        </p:nvSpPr>
        <p:spPr>
          <a:xfrm>
            <a:off x="9052560" y="221284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E3A0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QUARTERLY POOL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9052560" y="24871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$5,700</a:t>
            </a:r>
            <a:endParaRPr lang="en-US" sz="2900" dirty="0"/>
          </a:p>
        </p:txBody>
      </p:sp>
      <p:sp>
        <p:nvSpPr>
          <p:cNvPr id="27" name="Text 23"/>
          <p:cNvSpPr/>
          <p:nvPr/>
        </p:nvSpPr>
        <p:spPr>
          <a:xfrm>
            <a:off x="9052560" y="30358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D9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quarter's scan reads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640080" y="3703320"/>
            <a:ext cx="534924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6EA"/>
            </a:solidFill>
            <a:prstDash val="solid"/>
          </a:ln>
          <a:effectLst>
            <a:outerShdw sx="100000" sy="100000" kx="0" ky="0" algn="bl" rotWithShape="0" blurRad="50800" dist="19050" dir="8100000">
              <a:srgbClr val="2A3742">
                <a:alpha val="8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3703320"/>
            <a:ext cx="54864" cy="1965960"/>
          </a:xfrm>
          <a:prstGeom prst="rect">
            <a:avLst/>
          </a:prstGeom>
          <a:solidFill>
            <a:srgbClr val="E3A033"/>
          </a:solidFill>
          <a:ln/>
        </p:spPr>
      </p:sp>
      <p:sp>
        <p:nvSpPr>
          <p:cNvPr id="30" name="Text 26"/>
          <p:cNvSpPr/>
          <p:nvPr/>
        </p:nvSpPr>
        <p:spPr>
          <a:xfrm>
            <a:off x="914400" y="39776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0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WHY TWO ENTRIES?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914400" y="4306824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F567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monthly pool is a combination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A374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of the clinic's payments — made through the finance companies — and Oncura's credits. Together they make up what the clinic can spend each month.</a:t>
            </a:r>
            <a:endParaRPr lang="en-US" sz="1450" dirty="0"/>
          </a:p>
        </p:txBody>
      </p:sp>
      <p:sp>
        <p:nvSpPr>
          <p:cNvPr id="32" name="Shape 28"/>
          <p:cNvSpPr/>
          <p:nvPr/>
        </p:nvSpPr>
        <p:spPr>
          <a:xfrm>
            <a:off x="6199632" y="3703320"/>
            <a:ext cx="534924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6EA"/>
            </a:solidFill>
            <a:prstDash val="solid"/>
          </a:ln>
          <a:effectLst>
            <a:outerShdw sx="100000" sy="100000" kx="0" ky="0" algn="bl" rotWithShape="0" blurRad="50800" dist="19050" dir="8100000">
              <a:srgbClr val="2A3742">
                <a:alpha val="8000"/>
              </a:srgbClr>
            </a:outerShdw>
          </a:effectLst>
        </p:spPr>
      </p:sp>
      <p:sp>
        <p:nvSpPr>
          <p:cNvPr id="33" name="Shape 29"/>
          <p:cNvSpPr/>
          <p:nvPr/>
        </p:nvSpPr>
        <p:spPr>
          <a:xfrm>
            <a:off x="6199632" y="3703320"/>
            <a:ext cx="54864" cy="1965960"/>
          </a:xfrm>
          <a:prstGeom prst="rect">
            <a:avLst/>
          </a:prstGeom>
          <a:solidFill>
            <a:srgbClr val="469B68"/>
          </a:solidFill>
          <a:ln/>
        </p:spPr>
      </p:sp>
      <p:sp>
        <p:nvSpPr>
          <p:cNvPr id="34" name="Shape 30"/>
          <p:cNvSpPr/>
          <p:nvPr/>
        </p:nvSpPr>
        <p:spPr>
          <a:xfrm>
            <a:off x="6473952" y="3959352"/>
            <a:ext cx="512064" cy="512064"/>
          </a:xfrm>
          <a:prstGeom prst="ellipse">
            <a:avLst/>
          </a:prstGeom>
          <a:solidFill>
            <a:srgbClr val="E2F0E8"/>
          </a:solidFill>
          <a:ln/>
        </p:spPr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4069080"/>
            <a:ext cx="292608" cy="292608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7114032" y="39959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B77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THE APP DOES</a:t>
            </a:r>
            <a:endParaRPr lang="en-US" sz="1100" dirty="0"/>
          </a:p>
        </p:txBody>
      </p:sp>
      <p:sp>
        <p:nvSpPr>
          <p:cNvPr id="37" name="Text 32"/>
          <p:cNvSpPr/>
          <p:nvPr/>
        </p:nvSpPr>
        <p:spPr>
          <a:xfrm>
            <a:off x="6473952" y="457200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A374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Generates both import files each month.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74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payment and credit memo post unapplied and wait for the quarter-end close — no manual matching now.</a:t>
            </a:r>
            <a:endParaRPr lang="en-US" sz="1400" dirty="0"/>
          </a:p>
        </p:txBody>
      </p:sp>
      <p:sp>
        <p:nvSpPr>
          <p:cNvPr id="38" name="Text 33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7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FLEX · OPERATING GUIDE</a:t>
            </a:r>
            <a:endParaRPr lang="en-US" sz="800" dirty="0"/>
          </a:p>
        </p:txBody>
      </p:sp>
      <p:sp>
        <p:nvSpPr>
          <p:cNvPr id="39" name="Text 34"/>
          <p:cNvSpPr/>
          <p:nvPr/>
        </p:nvSpPr>
        <p:spPr>
          <a:xfrm>
            <a:off x="10607040" y="6446520"/>
            <a:ext cx="1033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7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/ 7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2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4864" cy="960120"/>
          </a:xfrm>
          <a:prstGeom prst="rect">
            <a:avLst/>
          </a:prstGeom>
          <a:solidFill>
            <a:srgbClr val="469B68"/>
          </a:solidFill>
          <a:ln/>
        </p:spPr>
      </p:sp>
      <p:sp>
        <p:nvSpPr>
          <p:cNvPr id="3" name="Text 1"/>
          <p:cNvSpPr/>
          <p:nvPr/>
        </p:nvSpPr>
        <p:spPr>
          <a:xfrm>
            <a:off x="859536" y="502920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3A0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QUARTER END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41248" y="74980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6A9A"/>
                </a:solidFill>
                <a:latin typeface="Fraunces 72pt" pitchFamily="34" charset="0"/>
                <a:ea typeface="Fraunces 72pt" pitchFamily="34" charset="-122"/>
                <a:cs typeface="Fraunces 72pt" pitchFamily="34" charset="-120"/>
              </a:rPr>
              <a:t>How a quarter closes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59536" y="133502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78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Only the clinics whose quarter ends this month — the app compares usage to the pool.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53492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6EA"/>
            </a:solidFill>
            <a:prstDash val="solid"/>
          </a:ln>
          <a:effectLst>
            <a:outerShdw sx="100000" sy="100000" kx="0" ky="0" algn="bl" rotWithShape="0" blurRad="50800" dist="19050" dir="8100000">
              <a:srgbClr val="2A3742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874520"/>
            <a:ext cx="54864" cy="1463040"/>
          </a:xfrm>
          <a:prstGeom prst="rect">
            <a:avLst/>
          </a:prstGeom>
          <a:solidFill>
            <a:srgbClr val="3A6A9A"/>
          </a:solidFill>
          <a:ln/>
        </p:spPr>
      </p:sp>
      <p:sp>
        <p:nvSpPr>
          <p:cNvPr id="8" name="Shape 6"/>
          <p:cNvSpPr/>
          <p:nvPr/>
        </p:nvSpPr>
        <p:spPr>
          <a:xfrm>
            <a:off x="932688" y="2167128"/>
            <a:ext cx="603504" cy="603504"/>
          </a:xfrm>
          <a:prstGeom prst="ellipse">
            <a:avLst/>
          </a:prstGeom>
          <a:solidFill>
            <a:srgbClr val="3A6A9A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21671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700784" y="2112264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3742"/>
                </a:solidFill>
                <a:latin typeface="Fraunces 72pt" pitchFamily="34" charset="0"/>
                <a:ea typeface="Fraunces 72pt" pitchFamily="34" charset="-122"/>
                <a:cs typeface="Fraunces 72pt" pitchFamily="34" charset="-120"/>
              </a:rPr>
              <a:t>Payments &amp; credits wait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700784" y="2551176"/>
            <a:ext cx="4069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A374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Through the quarter they sit unapplied in QBO while the scan invoices pile up.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99632" y="1874520"/>
            <a:ext cx="53492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6EA"/>
            </a:solidFill>
            <a:prstDash val="solid"/>
          </a:ln>
          <a:effectLst>
            <a:outerShdw sx="100000" sy="100000" kx="0" ky="0" algn="bl" rotWithShape="0" blurRad="50800" dist="19050" dir="8100000">
              <a:srgbClr val="2A3742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99632" y="1874520"/>
            <a:ext cx="54864" cy="1463040"/>
          </a:xfrm>
          <a:prstGeom prst="rect">
            <a:avLst/>
          </a:prstGeom>
          <a:solidFill>
            <a:srgbClr val="3A6A9A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2167128"/>
            <a:ext cx="603504" cy="603504"/>
          </a:xfrm>
          <a:prstGeom prst="ellipse">
            <a:avLst/>
          </a:prstGeom>
          <a:solidFill>
            <a:srgbClr val="3A6A9A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21671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7260336" y="2112264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3742"/>
                </a:solidFill>
                <a:latin typeface="Fraunces 72pt" pitchFamily="34" charset="0"/>
                <a:ea typeface="Fraunces 72pt" pitchFamily="34" charset="-122"/>
                <a:cs typeface="Fraunces 72pt" pitchFamily="34" charset="-120"/>
              </a:rPr>
              <a:t>The app totals usage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260336" y="2551176"/>
            <a:ext cx="4069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A374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At close, it adds up the clinic's scan activity for the whole quarter.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3538728"/>
            <a:ext cx="53492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6EA"/>
            </a:solidFill>
            <a:prstDash val="solid"/>
          </a:ln>
          <a:effectLst>
            <a:outerShdw sx="100000" sy="100000" kx="0" ky="0" algn="bl" rotWithShape="0" blurRad="50800" dist="19050" dir="8100000">
              <a:srgbClr val="2A3742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3538728"/>
            <a:ext cx="54864" cy="1463040"/>
          </a:xfrm>
          <a:prstGeom prst="rect">
            <a:avLst/>
          </a:prstGeom>
          <a:solidFill>
            <a:srgbClr val="3A6A9A"/>
          </a:solidFill>
          <a:ln/>
        </p:spPr>
      </p:sp>
      <p:sp>
        <p:nvSpPr>
          <p:cNvPr id="20" name="Shape 18"/>
          <p:cNvSpPr/>
          <p:nvPr/>
        </p:nvSpPr>
        <p:spPr>
          <a:xfrm>
            <a:off x="932688" y="3831336"/>
            <a:ext cx="603504" cy="603504"/>
          </a:xfrm>
          <a:prstGeom prst="ellipse">
            <a:avLst/>
          </a:prstGeom>
          <a:solidFill>
            <a:srgbClr val="3A6A9A"/>
          </a:solidFill>
          <a:ln/>
        </p:spPr>
      </p:sp>
      <p:sp>
        <p:nvSpPr>
          <p:cNvPr id="21" name="Text 19"/>
          <p:cNvSpPr/>
          <p:nvPr/>
        </p:nvSpPr>
        <p:spPr>
          <a:xfrm>
            <a:off x="932688" y="383133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700784" y="377647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3742"/>
                </a:solidFill>
                <a:latin typeface="Fraunces 72pt" pitchFamily="34" charset="0"/>
                <a:ea typeface="Fraunces 72pt" pitchFamily="34" charset="-122"/>
                <a:cs typeface="Fraunces 72pt" pitchFamily="34" charset="-120"/>
              </a:rPr>
              <a:t>Measured against the pool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700784" y="4215384"/>
            <a:ext cx="4069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A374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That usage is compared to the clinic's pool — the quarter's payments + credits.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99632" y="3538728"/>
            <a:ext cx="53492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6EA"/>
            </a:solidFill>
            <a:prstDash val="solid"/>
          </a:ln>
          <a:effectLst>
            <a:outerShdw sx="100000" sy="100000" kx="0" ky="0" algn="bl" rotWithShape="0" blurRad="50800" dist="19050" dir="8100000">
              <a:srgbClr val="2A3742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99632" y="3538728"/>
            <a:ext cx="54864" cy="1463040"/>
          </a:xfrm>
          <a:prstGeom prst="rect">
            <a:avLst/>
          </a:prstGeom>
          <a:solidFill>
            <a:srgbClr val="469B68"/>
          </a:solidFill>
          <a:ln/>
        </p:spPr>
      </p:sp>
      <p:sp>
        <p:nvSpPr>
          <p:cNvPr id="26" name="Shape 24"/>
          <p:cNvSpPr/>
          <p:nvPr/>
        </p:nvSpPr>
        <p:spPr>
          <a:xfrm>
            <a:off x="6492240" y="3831336"/>
            <a:ext cx="603504" cy="603504"/>
          </a:xfrm>
          <a:prstGeom prst="ellipse">
            <a:avLst/>
          </a:prstGeom>
          <a:solidFill>
            <a:srgbClr val="469B68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383133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7260336" y="377647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3742"/>
                </a:solidFill>
                <a:latin typeface="Fraunces 72pt" pitchFamily="34" charset="0"/>
                <a:ea typeface="Fraunces 72pt" pitchFamily="34" charset="-122"/>
                <a:cs typeface="Fraunces 72pt" pitchFamily="34" charset="-120"/>
              </a:rPr>
              <a:t>The balance decides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260336" y="4215384"/>
            <a:ext cx="4069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A374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Used it all, went over, or left some — the app produces the matching document.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5285232"/>
            <a:ext cx="10908792" cy="603504"/>
          </a:xfrm>
          <a:prstGeom prst="roundRect">
            <a:avLst>
              <a:gd name="adj" fmla="val 9091"/>
            </a:avLst>
          </a:prstGeom>
          <a:solidFill>
            <a:srgbClr val="2F567E"/>
          </a:solidFill>
          <a:ln/>
        </p:spPr>
      </p:sp>
      <p:sp>
        <p:nvSpPr>
          <p:cNvPr id="31" name="Shape 29"/>
          <p:cNvSpPr/>
          <p:nvPr/>
        </p:nvSpPr>
        <p:spPr>
          <a:xfrm>
            <a:off x="896112" y="5413248"/>
            <a:ext cx="457200" cy="457200"/>
          </a:xfrm>
          <a:prstGeom prst="ellipse">
            <a:avLst/>
          </a:prstGeom>
          <a:solidFill>
            <a:srgbClr val="E3A033"/>
          </a:solidFill>
          <a:ln/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5513832"/>
            <a:ext cx="256032" cy="256032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1481328" y="5285232"/>
            <a:ext cx="9875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3A03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Inside QBO: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quarter's payments and credits are applied against the scan invoices so the books match the result.</a:t>
            </a:r>
            <a:endParaRPr lang="en-US" sz="1250" dirty="0"/>
          </a:p>
        </p:txBody>
      </p:sp>
      <p:sp>
        <p:nvSpPr>
          <p:cNvPr id="34" name="Text 31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7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FLEX · OPERATING GUIDE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10607040" y="6446520"/>
            <a:ext cx="1033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7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 / 7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2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4864" cy="960120"/>
          </a:xfrm>
          <a:prstGeom prst="rect">
            <a:avLst/>
          </a:prstGeom>
          <a:solidFill>
            <a:srgbClr val="469B68"/>
          </a:solidFill>
          <a:ln/>
        </p:spPr>
      </p:sp>
      <p:sp>
        <p:nvSpPr>
          <p:cNvPr id="3" name="Text 1"/>
          <p:cNvSpPr/>
          <p:nvPr/>
        </p:nvSpPr>
        <p:spPr>
          <a:xfrm>
            <a:off x="859536" y="502920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3A0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RESULT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41248" y="74980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6A9A"/>
                </a:solidFill>
                <a:latin typeface="Fraunces 72pt" pitchFamily="34" charset="0"/>
                <a:ea typeface="Fraunces 72pt" pitchFamily="34" charset="-122"/>
                <a:cs typeface="Fraunces 72pt" pitchFamily="34" charset="-120"/>
              </a:rPr>
              <a:t>Three ways a quarter ends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59536" y="133502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78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Read the leftover balance — the app produces the matching document.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10908792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6EA"/>
            </a:solidFill>
            <a:prstDash val="solid"/>
          </a:ln>
          <a:effectLst>
            <a:outerShdw sx="100000" sy="100000" kx="0" ky="0" algn="bl" rotWithShape="0" blurRad="50800" dist="19050" dir="8100000">
              <a:srgbClr val="2A3742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011680"/>
            <a:ext cx="54864" cy="1298448"/>
          </a:xfrm>
          <a:prstGeom prst="rect">
            <a:avLst/>
          </a:prstGeom>
          <a:solidFill>
            <a:srgbClr val="469B68"/>
          </a:solidFill>
          <a:ln/>
        </p:spPr>
      </p:sp>
      <p:sp>
        <p:nvSpPr>
          <p:cNvPr id="8" name="Shape 6"/>
          <p:cNvSpPr/>
          <p:nvPr/>
        </p:nvSpPr>
        <p:spPr>
          <a:xfrm>
            <a:off x="932688" y="2331720"/>
            <a:ext cx="658368" cy="658368"/>
          </a:xfrm>
          <a:prstGeom prst="ellipse">
            <a:avLst/>
          </a:prstGeom>
          <a:solidFill>
            <a:srgbClr val="E2F0E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2478024"/>
            <a:ext cx="365760" cy="3657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828800" y="22311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7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Balance = $0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828800" y="24871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E6B45"/>
                </a:solidFill>
                <a:latin typeface="Fraunces 72pt" pitchFamily="34" charset="0"/>
                <a:ea typeface="Fraunces 72pt" pitchFamily="34" charset="-122"/>
                <a:cs typeface="Fraunces 72pt" pitchFamily="34" charset="-120"/>
              </a:rPr>
              <a:t>Clean quarter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4754880" y="2212848"/>
            <a:ext cx="0" cy="896112"/>
          </a:xfrm>
          <a:prstGeom prst="line">
            <a:avLst/>
          </a:prstGeom>
          <a:noFill/>
          <a:ln w="12700">
            <a:solidFill>
              <a:srgbClr val="E2E6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37760" y="2194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69B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APP PRODUCES  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4937760" y="2450592"/>
            <a:ext cx="6245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A374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Nothing to produce — the account is settled.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40080" y="3493008"/>
            <a:ext cx="10908792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6EA"/>
            </a:solidFill>
            <a:prstDash val="solid"/>
          </a:ln>
          <a:effectLst>
            <a:outerShdw sx="100000" sy="100000" kx="0" ky="0" algn="bl" rotWithShape="0" blurRad="50800" dist="19050" dir="8100000">
              <a:srgbClr val="2A3742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3493008"/>
            <a:ext cx="54864" cy="1298448"/>
          </a:xfrm>
          <a:prstGeom prst="rect">
            <a:avLst/>
          </a:prstGeom>
          <a:solidFill>
            <a:srgbClr val="E3A033"/>
          </a:solidFill>
          <a:ln/>
        </p:spPr>
      </p:sp>
      <p:sp>
        <p:nvSpPr>
          <p:cNvPr id="17" name="Shape 14"/>
          <p:cNvSpPr/>
          <p:nvPr/>
        </p:nvSpPr>
        <p:spPr>
          <a:xfrm>
            <a:off x="932688" y="3813048"/>
            <a:ext cx="658368" cy="658368"/>
          </a:xfrm>
          <a:prstGeom prst="ellipse">
            <a:avLst/>
          </a:prstGeom>
          <a:solidFill>
            <a:srgbClr val="FBF1DE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3959352"/>
            <a:ext cx="365760" cy="36576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828800" y="37124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7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Balance is positive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828800" y="396849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9A6B16"/>
                </a:solidFill>
                <a:latin typeface="Fraunces 72pt" pitchFamily="34" charset="0"/>
                <a:ea typeface="Fraunces 72pt" pitchFamily="34" charset="-122"/>
                <a:cs typeface="Fraunces 72pt" pitchFamily="34" charset="-120"/>
              </a:rPr>
              <a:t>Overage — bill it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4754880" y="3694176"/>
            <a:ext cx="0" cy="896112"/>
          </a:xfrm>
          <a:prstGeom prst="line">
            <a:avLst/>
          </a:prstGeom>
          <a:noFill/>
          <a:ln w="12700">
            <a:solidFill>
              <a:srgbClr val="E2E6E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937760" y="36758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3A0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APP PRODUCES  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4937760" y="3931920"/>
            <a:ext cx="6245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A374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app produces an overage invoice. If the finance partner handles it (One Place, by ~the 5th) it routes there; otherwise it bills the clinic directly, referencing “Telemedicine Overages” and the quarter.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640080" y="4974336"/>
            <a:ext cx="10908792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6EA"/>
            </a:solidFill>
            <a:prstDash val="solid"/>
          </a:ln>
          <a:effectLst>
            <a:outerShdw sx="100000" sy="100000" kx="0" ky="0" algn="bl" rotWithShape="0" blurRad="50800" dist="19050" dir="8100000">
              <a:srgbClr val="2A3742">
                <a:alpha val="8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40080" y="4974336"/>
            <a:ext cx="54864" cy="1298448"/>
          </a:xfrm>
          <a:prstGeom prst="rect">
            <a:avLst/>
          </a:prstGeom>
          <a:solidFill>
            <a:srgbClr val="3A6A9A"/>
          </a:solidFill>
          <a:ln/>
        </p:spPr>
      </p:sp>
      <p:sp>
        <p:nvSpPr>
          <p:cNvPr id="26" name="Shape 22"/>
          <p:cNvSpPr/>
          <p:nvPr/>
        </p:nvSpPr>
        <p:spPr>
          <a:xfrm>
            <a:off x="932688" y="5294376"/>
            <a:ext cx="658368" cy="658368"/>
          </a:xfrm>
          <a:prstGeom prst="ellipse">
            <a:avLst/>
          </a:prstGeom>
          <a:solidFill>
            <a:srgbClr val="E3EAF2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5440680"/>
            <a:ext cx="365760" cy="36576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1828800" y="5193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7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Balance is negative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1828800" y="544982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F567E"/>
                </a:solidFill>
                <a:latin typeface="Fraunces 72pt" pitchFamily="34" charset="0"/>
                <a:ea typeface="Fraunces 72pt" pitchFamily="34" charset="-122"/>
                <a:cs typeface="Fraunces 72pt" pitchFamily="34" charset="-120"/>
              </a:rPr>
              <a:t>Unused — recapture it</a:t>
            </a:r>
            <a:endParaRPr lang="en-US" sz="2100" dirty="0"/>
          </a:p>
        </p:txBody>
      </p:sp>
      <p:sp>
        <p:nvSpPr>
          <p:cNvPr id="30" name="Shape 25"/>
          <p:cNvSpPr/>
          <p:nvPr/>
        </p:nvSpPr>
        <p:spPr>
          <a:xfrm>
            <a:off x="4754880" y="5175504"/>
            <a:ext cx="0" cy="896112"/>
          </a:xfrm>
          <a:prstGeom prst="line">
            <a:avLst/>
          </a:prstGeom>
          <a:noFill/>
          <a:ln w="12700">
            <a:solidFill>
              <a:srgbClr val="E2E6EA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4937760" y="51572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A6A9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APP PRODUCES  </a:t>
            </a:r>
            <a:endParaRPr lang="en-US" sz="950" dirty="0"/>
          </a:p>
        </p:txBody>
      </p:sp>
      <p:sp>
        <p:nvSpPr>
          <p:cNvPr id="32" name="Text 27"/>
          <p:cNvSpPr/>
          <p:nvPr/>
        </p:nvSpPr>
        <p:spPr>
          <a:xfrm>
            <a:off x="4937760" y="5413248"/>
            <a:ext cx="6245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A374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app produces an internal Unused-Flex-Credits invoice that books the leftover as revenue. It's an accounting entry — not sent to the clinic.</a:t>
            </a:r>
            <a:endParaRPr lang="en-US" sz="1300" dirty="0"/>
          </a:p>
        </p:txBody>
      </p:sp>
      <p:sp>
        <p:nvSpPr>
          <p:cNvPr id="33" name="Text 28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7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FLEX · OPERATING GUIDE</a:t>
            </a:r>
            <a:endParaRPr lang="en-US" sz="800" dirty="0"/>
          </a:p>
        </p:txBody>
      </p:sp>
      <p:sp>
        <p:nvSpPr>
          <p:cNvPr id="34" name="Text 29"/>
          <p:cNvSpPr/>
          <p:nvPr/>
        </p:nvSpPr>
        <p:spPr>
          <a:xfrm>
            <a:off x="10607040" y="6446520"/>
            <a:ext cx="1033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7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 / 7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2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4864" cy="960120"/>
          </a:xfrm>
          <a:prstGeom prst="rect">
            <a:avLst/>
          </a:prstGeom>
          <a:solidFill>
            <a:srgbClr val="469B68"/>
          </a:solidFill>
          <a:ln/>
        </p:spPr>
      </p:sp>
      <p:sp>
        <p:nvSpPr>
          <p:cNvPr id="3" name="Text 1"/>
          <p:cNvSpPr/>
          <p:nvPr/>
        </p:nvSpPr>
        <p:spPr>
          <a:xfrm>
            <a:off x="859536" y="502920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3A0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WATCH FOR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41248" y="74980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6A9A"/>
                </a:solidFill>
                <a:latin typeface="Fraunces 72pt" pitchFamily="34" charset="0"/>
                <a:ea typeface="Fraunces 72pt" pitchFamily="34" charset="-122"/>
                <a:cs typeface="Fraunces 72pt" pitchFamily="34" charset="-120"/>
              </a:rPr>
              <a:t>Two things that change the routine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59536" y="133502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78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Most clinics are simple — but keep these two in mind.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53949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6EA"/>
            </a:solidFill>
            <a:prstDash val="solid"/>
          </a:ln>
          <a:effectLst>
            <a:outerShdw sx="100000" sy="100000" kx="0" ky="0" algn="bl" rotWithShape="0" blurRad="50800" dist="19050" dir="8100000">
              <a:srgbClr val="2A3742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965960"/>
            <a:ext cx="54864" cy="3749040"/>
          </a:xfrm>
          <a:prstGeom prst="rect">
            <a:avLst/>
          </a:prstGeom>
          <a:solidFill>
            <a:srgbClr val="3A6A9A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2240280"/>
            <a:ext cx="713232" cy="713232"/>
          </a:xfrm>
          <a:prstGeom prst="ellipse">
            <a:avLst/>
          </a:prstGeom>
          <a:solidFill>
            <a:srgbClr val="F0F2F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2404872"/>
            <a:ext cx="384048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783080" y="228600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7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WRINKLE 1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783080" y="25420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3742"/>
                </a:solidFill>
                <a:latin typeface="Fraunces 72pt" pitchFamily="34" charset="0"/>
                <a:ea typeface="Fraunces 72pt" pitchFamily="34" charset="-122"/>
                <a:cs typeface="Fraunces 72pt" pitchFamily="34" charset="-120"/>
              </a:rPr>
              <a:t>Multi-clinic groups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914400" y="3154680"/>
            <a:ext cx="457200" cy="457200"/>
          </a:xfrm>
          <a:prstGeom prst="ellipse">
            <a:avLst/>
          </a:prstGeom>
          <a:solidFill>
            <a:srgbClr val="F0F2F4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3255264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508760" y="308152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A374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Some contracts cover several locations and reconcile as one pool.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914400" y="3995928"/>
            <a:ext cx="457200" cy="457200"/>
          </a:xfrm>
          <a:prstGeom prst="ellipse">
            <a:avLst/>
          </a:prstGeom>
          <a:solidFill>
            <a:srgbClr val="F0F2F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096512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08760" y="3922776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A374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Funds move between locations to balance the group (e.g. ~$978 from Condado to Gardenville).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914400" y="4837176"/>
            <a:ext cx="457200" cy="457200"/>
          </a:xfrm>
          <a:prstGeom prst="ellipse">
            <a:avLst/>
          </a:prstGeom>
          <a:solidFill>
            <a:srgbClr val="F0F2F4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937760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508760" y="4764024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A374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group's consolidated row holds the pool — the other locations roll up into it.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6245352" y="1965960"/>
            <a:ext cx="530352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6EA"/>
            </a:solidFill>
            <a:prstDash val="solid"/>
          </a:ln>
          <a:effectLst>
            <a:outerShdw sx="100000" sy="100000" kx="0" ky="0" algn="bl" rotWithShape="0" blurRad="50800" dist="19050" dir="8100000">
              <a:srgbClr val="2A3742">
                <a:alpha val="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245352" y="1965960"/>
            <a:ext cx="54864" cy="3749040"/>
          </a:xfrm>
          <a:prstGeom prst="rect">
            <a:avLst/>
          </a:prstGeom>
          <a:solidFill>
            <a:srgbClr val="E3A033"/>
          </a:solidFill>
          <a:ln/>
        </p:spPr>
      </p:sp>
      <p:sp>
        <p:nvSpPr>
          <p:cNvPr id="23" name="Shape 17"/>
          <p:cNvSpPr/>
          <p:nvPr/>
        </p:nvSpPr>
        <p:spPr>
          <a:xfrm>
            <a:off x="6519672" y="2240280"/>
            <a:ext cx="713232" cy="713232"/>
          </a:xfrm>
          <a:prstGeom prst="ellipse">
            <a:avLst/>
          </a:prstGeom>
          <a:solidFill>
            <a:srgbClr val="FBF1DE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2404872"/>
            <a:ext cx="384048" cy="38404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388352" y="22860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7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WRINKLE 2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7388352" y="25420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3742"/>
                </a:solidFill>
                <a:latin typeface="Fraunces 72pt" pitchFamily="34" charset="0"/>
                <a:ea typeface="Fraunces 72pt" pitchFamily="34" charset="-122"/>
                <a:cs typeface="Fraunces 72pt" pitchFamily="34" charset="-120"/>
              </a:rPr>
              <a:t>Staggered quarters</a:t>
            </a:r>
            <a:endParaRPr lang="en-US" sz="2200" dirty="0"/>
          </a:p>
        </p:txBody>
      </p:sp>
      <p:sp>
        <p:nvSpPr>
          <p:cNvPr id="27" name="Text 20"/>
          <p:cNvSpPr/>
          <p:nvPr/>
        </p:nvSpPr>
        <p:spPr>
          <a:xfrm>
            <a:off x="6519672" y="310896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A374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Clinics don't all close in the same month. A quarter is three months; the cycles start one month apart: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519672" y="3767328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B77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FIRST QUARTER SHOWN · REPEATS EVERY 3 MONTHS</a:t>
            </a:r>
            <a:endParaRPr lang="en-US" sz="750" dirty="0"/>
          </a:p>
        </p:txBody>
      </p:sp>
      <p:sp>
        <p:nvSpPr>
          <p:cNvPr id="29" name="Text 22"/>
          <p:cNvSpPr/>
          <p:nvPr/>
        </p:nvSpPr>
        <p:spPr>
          <a:xfrm>
            <a:off x="6519672" y="4023360"/>
            <a:ext cx="1143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567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Cycle 1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7726680" y="4050792"/>
            <a:ext cx="777240" cy="365760"/>
          </a:xfrm>
          <a:prstGeom prst="rect">
            <a:avLst/>
          </a:prstGeom>
          <a:solidFill>
            <a:srgbClr val="F0F2F4"/>
          </a:solidFill>
          <a:ln w="9525">
            <a:solidFill>
              <a:srgbClr val="E2E6EA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7726680" y="4050792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A37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Jan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8567928" y="4050792"/>
            <a:ext cx="777240" cy="365760"/>
          </a:xfrm>
          <a:prstGeom prst="rect">
            <a:avLst/>
          </a:prstGeom>
          <a:solidFill>
            <a:srgbClr val="F0F2F4"/>
          </a:solidFill>
          <a:ln w="9525">
            <a:solidFill>
              <a:srgbClr val="E2E6EA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8567928" y="4050792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A37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Feb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9409176" y="4050792"/>
            <a:ext cx="777240" cy="365760"/>
          </a:xfrm>
          <a:prstGeom prst="rect">
            <a:avLst/>
          </a:prstGeom>
          <a:solidFill>
            <a:srgbClr val="F0F2F4"/>
          </a:solidFill>
          <a:ln w="9525">
            <a:solidFill>
              <a:srgbClr val="E2E6EA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9409176" y="4050792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A37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</a:t>
            </a:r>
            <a:endParaRPr lang="en-US" sz="1100" dirty="0"/>
          </a:p>
        </p:txBody>
      </p:sp>
      <p:sp>
        <p:nvSpPr>
          <p:cNvPr id="36" name="Text 29"/>
          <p:cNvSpPr/>
          <p:nvPr/>
        </p:nvSpPr>
        <p:spPr>
          <a:xfrm>
            <a:off x="10250424" y="4023360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…</a:t>
            </a:r>
            <a:endParaRPr lang="en-US" sz="1500" dirty="0"/>
          </a:p>
        </p:txBody>
      </p:sp>
      <p:sp>
        <p:nvSpPr>
          <p:cNvPr id="37" name="Text 30"/>
          <p:cNvSpPr/>
          <p:nvPr/>
        </p:nvSpPr>
        <p:spPr>
          <a:xfrm>
            <a:off x="6519672" y="4507992"/>
            <a:ext cx="1143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567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Cycle 2</a:t>
            </a:r>
            <a:endParaRPr lang="en-US" sz="1150" dirty="0"/>
          </a:p>
        </p:txBody>
      </p:sp>
      <p:sp>
        <p:nvSpPr>
          <p:cNvPr id="38" name="Shape 31"/>
          <p:cNvSpPr/>
          <p:nvPr/>
        </p:nvSpPr>
        <p:spPr>
          <a:xfrm>
            <a:off x="7726680" y="4535424"/>
            <a:ext cx="777240" cy="365760"/>
          </a:xfrm>
          <a:prstGeom prst="rect">
            <a:avLst/>
          </a:prstGeom>
          <a:solidFill>
            <a:srgbClr val="F0F2F4"/>
          </a:solidFill>
          <a:ln w="9525">
            <a:solidFill>
              <a:srgbClr val="E2E6EA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726680" y="453542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A37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Feb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8567928" y="4535424"/>
            <a:ext cx="777240" cy="365760"/>
          </a:xfrm>
          <a:prstGeom prst="rect">
            <a:avLst/>
          </a:prstGeom>
          <a:solidFill>
            <a:srgbClr val="F0F2F4"/>
          </a:solidFill>
          <a:ln w="9525">
            <a:solidFill>
              <a:srgbClr val="E2E6EA"/>
            </a:solidFill>
            <a:prstDash val="solid"/>
          </a:ln>
        </p:spPr>
      </p:sp>
      <p:sp>
        <p:nvSpPr>
          <p:cNvPr id="41" name="Text 34"/>
          <p:cNvSpPr/>
          <p:nvPr/>
        </p:nvSpPr>
        <p:spPr>
          <a:xfrm>
            <a:off x="8567928" y="453542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A37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9409176" y="4535424"/>
            <a:ext cx="777240" cy="365760"/>
          </a:xfrm>
          <a:prstGeom prst="rect">
            <a:avLst/>
          </a:prstGeom>
          <a:solidFill>
            <a:srgbClr val="F0F2F4"/>
          </a:solidFill>
          <a:ln w="9525">
            <a:solidFill>
              <a:srgbClr val="E2E6EA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9409176" y="453542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A37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Apr</a:t>
            </a:r>
            <a:endParaRPr lang="en-US" sz="1100" dirty="0"/>
          </a:p>
        </p:txBody>
      </p:sp>
      <p:sp>
        <p:nvSpPr>
          <p:cNvPr id="44" name="Text 37"/>
          <p:cNvSpPr/>
          <p:nvPr/>
        </p:nvSpPr>
        <p:spPr>
          <a:xfrm>
            <a:off x="10250424" y="4507992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…</a:t>
            </a:r>
            <a:endParaRPr lang="en-US" sz="1500" dirty="0"/>
          </a:p>
        </p:txBody>
      </p:sp>
      <p:sp>
        <p:nvSpPr>
          <p:cNvPr id="45" name="Text 38"/>
          <p:cNvSpPr/>
          <p:nvPr/>
        </p:nvSpPr>
        <p:spPr>
          <a:xfrm>
            <a:off x="6519672" y="4992624"/>
            <a:ext cx="1143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567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Cycle 3</a:t>
            </a:r>
            <a:endParaRPr lang="en-US" sz="1150" dirty="0"/>
          </a:p>
        </p:txBody>
      </p:sp>
      <p:sp>
        <p:nvSpPr>
          <p:cNvPr id="46" name="Shape 39"/>
          <p:cNvSpPr/>
          <p:nvPr/>
        </p:nvSpPr>
        <p:spPr>
          <a:xfrm>
            <a:off x="7726680" y="5020056"/>
            <a:ext cx="777240" cy="365760"/>
          </a:xfrm>
          <a:prstGeom prst="rect">
            <a:avLst/>
          </a:prstGeom>
          <a:solidFill>
            <a:srgbClr val="F0F2F4"/>
          </a:solidFill>
          <a:ln w="9525">
            <a:solidFill>
              <a:srgbClr val="E2E6EA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7726680" y="5020056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A37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</a:t>
            </a:r>
            <a:endParaRPr lang="en-US" sz="1100" dirty="0"/>
          </a:p>
        </p:txBody>
      </p:sp>
      <p:sp>
        <p:nvSpPr>
          <p:cNvPr id="48" name="Shape 41"/>
          <p:cNvSpPr/>
          <p:nvPr/>
        </p:nvSpPr>
        <p:spPr>
          <a:xfrm>
            <a:off x="8567928" y="5020056"/>
            <a:ext cx="777240" cy="365760"/>
          </a:xfrm>
          <a:prstGeom prst="rect">
            <a:avLst/>
          </a:prstGeom>
          <a:solidFill>
            <a:srgbClr val="F0F2F4"/>
          </a:solidFill>
          <a:ln w="9525">
            <a:solidFill>
              <a:srgbClr val="E2E6EA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8567928" y="5020056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A37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Apr</a:t>
            </a:r>
            <a:endParaRPr lang="en-US" sz="1100" dirty="0"/>
          </a:p>
        </p:txBody>
      </p:sp>
      <p:sp>
        <p:nvSpPr>
          <p:cNvPr id="50" name="Shape 43"/>
          <p:cNvSpPr/>
          <p:nvPr/>
        </p:nvSpPr>
        <p:spPr>
          <a:xfrm>
            <a:off x="9409176" y="5020056"/>
            <a:ext cx="777240" cy="365760"/>
          </a:xfrm>
          <a:prstGeom prst="rect">
            <a:avLst/>
          </a:prstGeom>
          <a:solidFill>
            <a:srgbClr val="F0F2F4"/>
          </a:solidFill>
          <a:ln w="9525">
            <a:solidFill>
              <a:srgbClr val="E2E6EA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9409176" y="5020056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A37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May</a:t>
            </a:r>
            <a:endParaRPr lang="en-US" sz="1100" dirty="0"/>
          </a:p>
        </p:txBody>
      </p:sp>
      <p:sp>
        <p:nvSpPr>
          <p:cNvPr id="52" name="Text 45"/>
          <p:cNvSpPr/>
          <p:nvPr/>
        </p:nvSpPr>
        <p:spPr>
          <a:xfrm>
            <a:off x="10250424" y="4992624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…</a:t>
            </a:r>
            <a:endParaRPr lang="en-US" sz="1500" dirty="0"/>
          </a:p>
        </p:txBody>
      </p:sp>
      <p:sp>
        <p:nvSpPr>
          <p:cNvPr id="53" name="Text 46"/>
          <p:cNvSpPr/>
          <p:nvPr/>
        </p:nvSpPr>
        <p:spPr>
          <a:xfrm>
            <a:off x="6519672" y="54864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9A6B1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Only the clinics whose quarter ends this month are processed.</a:t>
            </a:r>
            <a:endParaRPr lang="en-US" sz="1200" dirty="0"/>
          </a:p>
        </p:txBody>
      </p:sp>
      <p:sp>
        <p:nvSpPr>
          <p:cNvPr id="54" name="Text 47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7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FLEX · OPERATING GUIDE</a:t>
            </a:r>
            <a:endParaRPr lang="en-US" sz="800" dirty="0"/>
          </a:p>
        </p:txBody>
      </p:sp>
      <p:sp>
        <p:nvSpPr>
          <p:cNvPr id="55" name="Text 48"/>
          <p:cNvSpPr/>
          <p:nvPr/>
        </p:nvSpPr>
        <p:spPr>
          <a:xfrm>
            <a:off x="10607040" y="6446520"/>
            <a:ext cx="1033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7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 / 7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2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4864" cy="960120"/>
          </a:xfrm>
          <a:prstGeom prst="rect">
            <a:avLst/>
          </a:prstGeom>
          <a:solidFill>
            <a:srgbClr val="469B68"/>
          </a:solidFill>
          <a:ln/>
        </p:spPr>
      </p:sp>
      <p:sp>
        <p:nvSpPr>
          <p:cNvPr id="3" name="Text 1"/>
          <p:cNvSpPr/>
          <p:nvPr/>
        </p:nvSpPr>
        <p:spPr>
          <a:xfrm>
            <a:off x="859536" y="502920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3A0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KEEP THIS HANDY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41248" y="74980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6A9A"/>
                </a:solidFill>
                <a:latin typeface="Fraunces 72pt" pitchFamily="34" charset="0"/>
                <a:ea typeface="Fraunces 72pt" pitchFamily="34" charset="-122"/>
                <a:cs typeface="Fraunces 72pt" pitchFamily="34" charset="-120"/>
              </a:rPr>
              <a:t>Quick reference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59536" y="133502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78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terms you'll see, and the files the app produces for QBO.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53949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6EA"/>
            </a:solidFill>
            <a:prstDash val="solid"/>
          </a:ln>
          <a:effectLst>
            <a:outerShdw sx="100000" sy="100000" kx="0" ky="0" algn="bl" rotWithShape="0" blurRad="50800" dist="19050" dir="8100000">
              <a:srgbClr val="2A3742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965960"/>
            <a:ext cx="54864" cy="3749040"/>
          </a:xfrm>
          <a:prstGeom prst="rect">
            <a:avLst/>
          </a:prstGeom>
          <a:solidFill>
            <a:srgbClr val="3A6A9A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1945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3A0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PLAIN-ENGLISH GLOSSARY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14400" y="26060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A6A9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Pool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78892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A374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quarter's scan reads a clinic can use — monthly credit × 3.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14400" y="3063240"/>
            <a:ext cx="484632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A6A9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Monthly credit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78892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A374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clinic's monthly entitlement, booked as a credit memo.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14400" y="3566160"/>
            <a:ext cx="484632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A6A9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Finance payment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788920" y="36118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A374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monthly pass-through cash that funds the credit; posts unapplied.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4400" y="4069080"/>
            <a:ext cx="484632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114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A6A9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Recapture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788920" y="41148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A374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Internal invoice booking unused pool as revenue. Not sent to the clinic.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14400" y="4572000"/>
            <a:ext cx="484632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6177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A6A9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Overage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788920" y="46177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A374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real bill when scans exceed the pool.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14400" y="5074920"/>
            <a:ext cx="484632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51206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A6A9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Multi-clinic group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788920" y="5120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A374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Locations under one contract that reconcile as a single pool.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153912" y="1965960"/>
            <a:ext cx="53949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6EA"/>
            </a:solidFill>
            <a:prstDash val="solid"/>
          </a:ln>
          <a:effectLst>
            <a:outerShdw sx="100000" sy="100000" kx="0" ky="0" algn="bl" rotWithShape="0" blurRad="50800" dist="19050" dir="8100000">
              <a:srgbClr val="2A3742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53912" y="1965960"/>
            <a:ext cx="54864" cy="3749040"/>
          </a:xfrm>
          <a:prstGeom prst="rect">
            <a:avLst/>
          </a:prstGeom>
          <a:solidFill>
            <a:srgbClr val="469B68"/>
          </a:solidFill>
          <a:ln/>
        </p:spPr>
      </p:sp>
      <p:sp>
        <p:nvSpPr>
          <p:cNvPr id="28" name="Text 26"/>
          <p:cNvSpPr/>
          <p:nvPr/>
        </p:nvSpPr>
        <p:spPr>
          <a:xfrm>
            <a:off x="6428232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3A0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THE APP PRODUCES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418320" y="2194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 QBO via SaaSAnt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428232" y="2651760"/>
            <a:ext cx="475488" cy="475488"/>
          </a:xfrm>
          <a:prstGeom prst="ellipse">
            <a:avLst/>
          </a:prstGeom>
          <a:solidFill>
            <a:srgbClr val="E2F0E8"/>
          </a:solidFill>
          <a:ln/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8816" y="2752344"/>
            <a:ext cx="274320" cy="274320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7022592" y="259689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3742"/>
                </a:solidFill>
                <a:latin typeface="Fraunces 72pt" pitchFamily="34" charset="0"/>
                <a:ea typeface="Fraunces 72pt" pitchFamily="34" charset="-122"/>
                <a:cs typeface="Fraunces 72pt" pitchFamily="34" charset="-120"/>
              </a:rPr>
              <a:t>Payment import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7022592" y="29077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78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Monthly finance-company payments (unapplied)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6428232" y="3328416"/>
            <a:ext cx="484632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428232" y="3401568"/>
            <a:ext cx="475488" cy="475488"/>
          </a:xfrm>
          <a:prstGeom prst="ellipse">
            <a:avLst/>
          </a:prstGeom>
          <a:solidFill>
            <a:srgbClr val="E2F0E8"/>
          </a:solidFill>
          <a:ln/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3502152"/>
            <a:ext cx="274320" cy="274320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7022592" y="334670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3742"/>
                </a:solidFill>
                <a:latin typeface="Fraunces 72pt" pitchFamily="34" charset="0"/>
                <a:ea typeface="Fraunces 72pt" pitchFamily="34" charset="-122"/>
                <a:cs typeface="Fraunces 72pt" pitchFamily="34" charset="-120"/>
              </a:rPr>
              <a:t>Credit-memo import</a:t>
            </a:r>
            <a:endParaRPr lang="en-US" sz="1500" dirty="0"/>
          </a:p>
        </p:txBody>
      </p:sp>
      <p:sp>
        <p:nvSpPr>
          <p:cNvPr id="38" name="Text 34"/>
          <p:cNvSpPr/>
          <p:nvPr/>
        </p:nvSpPr>
        <p:spPr>
          <a:xfrm>
            <a:off x="7022592" y="36576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78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Monthly Flex credits for each clinic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6428232" y="4078224"/>
            <a:ext cx="484632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6428232" y="4151376"/>
            <a:ext cx="475488" cy="475488"/>
          </a:xfrm>
          <a:prstGeom prst="ellipse">
            <a:avLst/>
          </a:prstGeom>
          <a:solidFill>
            <a:srgbClr val="E2F0E8"/>
          </a:solidFill>
          <a:ln/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4251960"/>
            <a:ext cx="274320" cy="27432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7022592" y="409651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3742"/>
                </a:solidFill>
                <a:latin typeface="Fraunces 72pt" pitchFamily="34" charset="0"/>
                <a:ea typeface="Fraunces 72pt" pitchFamily="34" charset="-122"/>
                <a:cs typeface="Fraunces 72pt" pitchFamily="34" charset="-120"/>
              </a:rPr>
              <a:t>Overage invoice</a:t>
            </a:r>
            <a:endParaRPr lang="en-US" sz="1500" dirty="0"/>
          </a:p>
        </p:txBody>
      </p:sp>
      <p:sp>
        <p:nvSpPr>
          <p:cNvPr id="43" name="Text 38"/>
          <p:cNvSpPr/>
          <p:nvPr/>
        </p:nvSpPr>
        <p:spPr>
          <a:xfrm>
            <a:off x="7022592" y="44074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78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Quarter-end bill when usage beats the pool</a:t>
            </a:r>
            <a:endParaRPr lang="en-US" sz="1150" dirty="0"/>
          </a:p>
        </p:txBody>
      </p:sp>
      <p:sp>
        <p:nvSpPr>
          <p:cNvPr id="44" name="Shape 39"/>
          <p:cNvSpPr/>
          <p:nvPr/>
        </p:nvSpPr>
        <p:spPr>
          <a:xfrm>
            <a:off x="6428232" y="4828032"/>
            <a:ext cx="484632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6428232" y="4901184"/>
            <a:ext cx="475488" cy="475488"/>
          </a:xfrm>
          <a:prstGeom prst="ellipse">
            <a:avLst/>
          </a:prstGeom>
          <a:solidFill>
            <a:srgbClr val="E2F0E8"/>
          </a:solidFill>
          <a:ln/>
        </p:spPr>
      </p:sp>
      <p:pic>
        <p:nvPicPr>
          <p:cNvPr id="4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5001768"/>
            <a:ext cx="274320" cy="274320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022592" y="48463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3742"/>
                </a:solidFill>
                <a:latin typeface="Fraunces 72pt" pitchFamily="34" charset="0"/>
                <a:ea typeface="Fraunces 72pt" pitchFamily="34" charset="-122"/>
                <a:cs typeface="Fraunces 72pt" pitchFamily="34" charset="-120"/>
              </a:rPr>
              <a:t>Recapture invoice</a:t>
            </a:r>
            <a:endParaRPr lang="en-US" sz="1500" dirty="0"/>
          </a:p>
        </p:txBody>
      </p:sp>
      <p:sp>
        <p:nvSpPr>
          <p:cNvPr id="48" name="Text 42"/>
          <p:cNvSpPr/>
          <p:nvPr/>
        </p:nvSpPr>
        <p:spPr>
          <a:xfrm>
            <a:off x="7022592" y="51572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78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Quarter-end internal booking of unused pool</a:t>
            </a:r>
            <a:endParaRPr lang="en-US" sz="1150" dirty="0"/>
          </a:p>
        </p:txBody>
      </p:sp>
      <p:sp>
        <p:nvSpPr>
          <p:cNvPr id="49" name="Text 43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7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FLEX · OPERATING GUIDE</a:t>
            </a:r>
            <a:endParaRPr lang="en-US" sz="800" dirty="0"/>
          </a:p>
        </p:txBody>
      </p:sp>
      <p:sp>
        <p:nvSpPr>
          <p:cNvPr id="50" name="Text 44"/>
          <p:cNvSpPr/>
          <p:nvPr/>
        </p:nvSpPr>
        <p:spPr>
          <a:xfrm>
            <a:off x="10607040" y="6446520"/>
            <a:ext cx="1033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7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 / 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FLEX — Operating Guide</dc:title>
  <dc:subject>PptxGenJS Presentation</dc:subject>
  <dc:creator>Oncura Operations</dc:creator>
  <cp:lastModifiedBy>Oncura Operations</cp:lastModifiedBy>
  <cp:revision>1</cp:revision>
  <dcterms:created xsi:type="dcterms:W3CDTF">2026-05-29T06:20:34Z</dcterms:created>
  <dcterms:modified xsi:type="dcterms:W3CDTF">2026-05-29T06:20:34Z</dcterms:modified>
</cp:coreProperties>
</file>